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E5EDF7"/>
                </a:solidFill>
              </a:defRPr>
            </a:pPr>
            <a:r>
              <a:rPr sz="1350">
                <a:solidFill>
                  <a:srgbClr val="E5EDF7"/>
                </a:solidFill>
              </a:rPr>
              <a:t>三场景星链成交额对比（¥）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E5EDF7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星链成交额</c:v>
                </c:pt>
              </c:strCache>
            </c:strRef>
          </c:tx>
          <c:spPr>
            <a:solidFill>
              <a:srgbClr val="22D3EE"/>
            </a:solidFill>
          </c:spPr>
          <c:dLbls>
            <c:txPr>
              <a:bodyPr/>
              <a:p>
                <a:pPr>
                  <a:defRPr sz="750">
                    <a:solidFill>
                      <a:srgbClr val="E5EDF7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DEPOT 地月基地</c:v>
                </c:pt>
                <c:pt idx="1">
                  <c:v>MARS 火星车</c:v>
                </c:pt>
                <c:pt idx="2">
                  <c:v>GENERIC 类月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21801</c:v>
                </c:pt>
                <c:pt idx="1">
                  <c:v>10859</c:v>
                </c:pt>
                <c:pt idx="2">
                  <c:v>16188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89736801"/>
        <c:crossBetween val="between"/>
      </c:valAx>
      <c:spPr>
        <a:solidFill>
          <a:srgbClr val="0B1120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type=&quot;cover&quot;&gt;&#10;  &lt;Box style={{ position: 'relative', width: '100%', height: '100%', background: '#0B1120' }}&gt;&#10;    &lt;Image src=&quot;assets/starlink_coverage.svg&quot; style={{ position: 'absolute', top: 0, left: 0, width: '100%', height: '100%', objectFit: 'cover', opacity: 0.45 }} /&gt;&#10;    &lt;Box style={{ position: 'absolute', top: 0, left: 0, width: '100%', height: '100%', background: 'linear-gradient(90deg, rgba(11,17,32,0.94) 0%, rgba(11,17,32,0.6) 55%, rgba(11,17,32,0.25) 100%)' }} /&gt;&#10;    &lt;Box style={{ position: 'relative', zIndex: 2, height: '100%', justifyContent: 'center', padding: '0 80px' }}&gt;&#10;      &lt;Animation animType=&quot;fadeIn&quot; duration={700}&gt;&#10;        &lt;Text style={{ fontSize: 30, color: '#22D3EE', fontWeight: 'bold', letterSpacing: 3 }}&gt;COSMIC MINING ROBOT&lt;/Text&gt;&#10;      &lt;/Animation&gt;&#10;      &lt;Animation animType=&quot;fadeIn&quot; startType=&quot;afterPrevious&quot; duration={700}&gt;&#10;        &lt;Text style={{ fontSize: 64, color: '#E5EDF7', fontWeight: 'bold', lineHeight: 1.15, marginTop: 18 }}&gt;&#10;          从扫地机器人&lt;Text style={{ color: '#3B82F6' }}&gt;→&lt;/Text&gt;宇宙挖矿机器人&#10;        &lt;/Text&gt;&#10;      &lt;/Animation&gt;&#10;      &lt;Animation animType=&quot;fadeIn&quot; startType=&quot;afterPrevious&quot; duration={700}&gt;&#10;        &lt;Text style={{ fontSize: 22, color: '#94A3B8', marginTop: 26, lineHeight: 1.7 }}&gt;&#10;          把家用清洁改造为地外采矿的完整技术闭环&lt;Text style={{ color: '#94A3B8' }}&gt;&lt;br/&gt;&lt;/Text&gt;&#10;          316L 不锈钢机身 · 西电第三代半导体抗辐射算力 · 火星车仿真 · Starlink 星链 · 区块链溯源&#10;        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r:embed="rId1"/>
              </a:ext>
            </a:extLst>
          </a:blip>
          <a:srcRect l="0" t="21875" r="0" b="2187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4000"/>
                </a:srgbClr>
              </a:gs>
              <a:gs pos="55000">
                <a:srgbClr val="0B1120">
                  <a:alpha val="60000"/>
                </a:srgbClr>
              </a:gs>
              <a:gs pos="100000">
                <a:srgbClr val="0B1120">
                  <a:alpha val="2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200275"/>
            <a:ext cx="1066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225">
                <a:solidFill>
                  <a:srgbClr val="22D3EE"/>
                </a:solidFill>
                <a:latin typeface="Microsoft YaHei"/>
                <a:ea typeface="Microsoft YaHei"/>
              </a:rPr>
              <a:t>COSMIC MINING ROBOT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714625"/>
            <a:ext cx="10668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E5EDF7"/>
                </a:solidFill>
                <a:latin typeface="Microsoft YaHei"/>
                <a:ea typeface="Microsoft YaHei"/>
              </a:rPr>
              <a:t>从扫地机器人</a:t>
            </a:r>
            <a:r>
              <a:rPr sz="4800" b="1">
                <a:solidFill>
                  <a:srgbClr val="E5EDF7"/>
                </a:solidFill>
                <a:latin typeface="Microsoft YaHei"/>
                <a:ea typeface="Microsoft YaHei"/>
              </a:rPr>
              <a:t>→</a:t>
            </a:r>
            <a:r>
              <a:rPr lang="zh-CN" sz="4800" b="1">
                <a:solidFill>
                  <a:srgbClr val="E5EDF7"/>
                </a:solidFill>
                <a:latin typeface="Microsoft YaHei"/>
                <a:ea typeface="Microsoft YaHei"/>
              </a:rPr>
              <a:t>宇宙挖矿机器人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10668000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把家用清洁改造为地外采矿的完整技术闭环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316L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不锈钢机身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西电第三代半导体抗辐射算力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火星车仿真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Starlink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星链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区块链溯源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5" name="" descr="&lt;Slide type=&quot;catalog&quot;&gt;&#10;  &lt;Box style={{ width: '100%', height: '100%', background: '#0B1120', flexDirection: 'row' }}&gt;&#10;    &lt;Box style={{ width: '33%', justifyContent: 'center', padding: '0 52px', background: '#0F1B33' }}&gt;&#10;      &lt;Text style={{ fontSize: 46, color: '#E5EDF7', fontWeight: 'bold', lineHeight: 1.1 }}&gt;目录&lt;Text style={{ color: '#22D3EE' }}&gt;&lt;br/&gt;CONTENTS&lt;/Text&gt;&lt;/Text&gt;&#10;      &lt;Text style={{ fontSize: 16, color: '#94A3B8', marginTop: 24, lineHeight: 1.6 }}&gt;从家用清扫到地外采矿&lt;br/&gt;的完整技术闭环&lt;/Text&gt;&#10;    &lt;/Box&gt;&#10;    &lt;Box style={{ flex: 1, justifyContent: 'center', padding: '0 56px', gap: 26 }}&gt;&#10;      &lt;Animation animType=&quot;fadeIn&quot; duration={600}&gt;&#10;        &lt;Box style={{ flexDirection: 'row', gap: 20, alignItems: 'center' }}&gt;&#10;          &lt;Text style={{ fontSize: 36, color: '#3B82F6', fontWeight: 'bold' }}&gt;01&lt;/Text&gt;&#10;          &lt;Box&gt;&lt;Text style={{ fontSize: 24, color: '#E5EDF7', fontWeight: 'bold' }}&gt;项目总览&lt;/Text&gt;&lt;Text style={{ fontSize: 15, color: '#94A3B8' }}&gt;系统整体架构 · 改装逻辑&lt;/Text&gt;&lt;/Box&gt;&#10;        &lt;/Box&gt;&#10;      &lt;/Animation&gt;&#10;      &lt;Animation animType=&quot;fadeIn&quot; startType=&quot;afterPrevious&quot; duration={600}&gt;&#10;        &lt;Box style={{ flexDirection: 'row', gap: 20, alignItems: 'center' }}&gt;&#10;          &lt;Text style={{ fontSize: 36, color: '#22D3EE', fontWeight: 'bold' }}&gt;02&lt;/Text&gt;&#10;          &lt;Box&gt;&lt;Text style={{ fontSize: 24, color: '#E5EDF7', fontWeight: 'bold' }}&gt;机器结构与抗辐射芯片&lt;/Text&gt;&lt;Text style={{ fontSize: 15, color: '#94A3B8' }}&gt;扫地机器人底座 · 改装结构 · 西电三代半&lt;/Text&gt;&lt;/Box&gt;&#10;        &lt;/Box&gt;&#10;      &lt;/Animation&gt;&#10;      &lt;Animation animType=&quot;fadeIn&quot; startType=&quot;afterPrevious&quot; duration={600}&gt;&#10;        &lt;Box style={{ flexDirection: 'row', gap: 20, alignItems: 'center' }}&gt;&#10;          &lt;Text style={{ fontSize: 36, color: '#F59E0B', fontWeight: 'bold' }}&gt;03&lt;/Text&gt;&#10;          &lt;Box&gt;&lt;Text style={{ fontSize: 24, color: '#E5EDF7', fontWeight: 'bold' }}&gt;通讯与数据闭环&lt;/Text&gt;&lt;Text style={{ fontSize: 15, color: '#94A3B8' }}&gt;近地轨道 Starlink · 集尘盒区块链售卖&lt;/Text&gt;&lt;/Box&gt;&#10;        &lt;/Box&gt;&#10;      &lt;/Animation&gt;&#10;      &lt;Animation animType=&quot;fadeIn&quot; startType=&quot;afterPrevious&quot; duration={600}&gt;&#10;        &lt;Box style={{ flexDirection: 'row', gap: 20, alignItems: 'center' }}&gt;&#10;          &lt;Text style={{ fontSize: 36, color: '#94A3B8', fontWeight: 'bold' }}&gt;04&lt;/Text&gt;&#10;          &lt;Box&gt;&lt;Text style={{ fontSize: 24, color: '#E5EDF7', fontWeight: 'bold' }}&gt;仿真验证与展望&lt;/Text&gt;&lt;Text style={{ fontSize: 15, color: '#94A3B8' }}&gt;三场景演示结果 · GitHub 发布&lt;/Text&gt;&lt;/Box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0" y="0"/>
            <a:ext cx="4019550" cy="685800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95300" y="2438400"/>
            <a:ext cx="3028950" cy="11620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3450" b="1">
                <a:solidFill>
                  <a:srgbClr val="E5EDF7"/>
                </a:solidFill>
                <a:latin typeface="Microsoft YaHei"/>
                <a:ea typeface="Microsoft YaHei"/>
              </a:rPr>
              <a:t>目录</a:t>
            </a:r>
            <a:endParaRPr/>
          </a:p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E5EDF7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95300" y="3829050"/>
            <a:ext cx="30289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从家用清扫到地外采矿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的完整技术闭环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552950" y="218122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B82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172075" y="2162175"/>
            <a:ext cx="1552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5EDF7"/>
                </a:solidFill>
                <a:latin typeface="Microsoft YaHei"/>
                <a:ea typeface="Microsoft YaHei"/>
              </a:rPr>
              <a:t>项目总览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172075" y="243840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系统整体架构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改装逻辑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52950" y="287655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172075" y="2857500"/>
            <a:ext cx="2524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5EDF7"/>
                </a:solidFill>
                <a:latin typeface="Microsoft YaHei"/>
                <a:ea typeface="Microsoft YaHei"/>
              </a:rPr>
              <a:t>机器结构与抗辐射芯片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172075" y="3133725"/>
            <a:ext cx="252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扫地机器人底座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改装结构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西电三代半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552950" y="3571875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59E0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172075" y="3552825"/>
            <a:ext cx="2390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5EDF7"/>
                </a:solidFill>
                <a:latin typeface="Microsoft YaHei"/>
                <a:ea typeface="Microsoft YaHei"/>
              </a:rPr>
              <a:t>通讯与数据闭环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172075" y="3829050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近地轨道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Starlink ·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集尘盒区块链售卖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552950" y="42672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94A3B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172075" y="4248150"/>
            <a:ext cx="1943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5EDF7"/>
                </a:solidFill>
                <a:latin typeface="Microsoft YaHei"/>
                <a:ea typeface="Microsoft YaHei"/>
              </a:rPr>
              <a:t>仿真验证与展望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172075" y="4524375"/>
            <a:ext cx="194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三场景演示结果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GitHub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发布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7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78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8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2" name="" descr="&lt;Slide type=&quot;section&quot;&gt;&#10;  &lt;Box style={{ position: 'relative', width: '100%', height: '100%', background: '#0B1120' }}&gt;&#10;    &lt;Image src=&quot;assets/starlink_coverage.svg&quot; style={{ position: 'absolute', top: 0, left: 0, width: '100%', height: '100%', objectFit: 'cover', opacity: 0.4 }} /&gt;&#10;    &lt;Box style={{ position: 'absolute', top: 0, left: 0, width: '100%', height: '100%', background: 'linear-gradient(120deg, rgba(11,17,32,0.9) 0%, rgba(11,17,32,0.5) 100%)' }} /&gt;&#10;    &lt;Box style={{ position: 'relative', zIndex: 2, height: '100%', justifyContent: 'center', padding: '0 96px' }}&gt;&#10;      &lt;Animation animType=&quot;fadeIn&quot; duration={700}&gt;&#10;        &lt;Text style={{ fontSize: 34, color: '#22D3EE', fontWeight: 'bold', letterSpacing: 4 }}&gt;CHAPTER 01&lt;/Text&gt;&#10;      &lt;/Animation&gt;&#10;      &lt;Animation animType=&quot;fadeIn&quot; startType=&quot;afterPrevious&quot; duration={700}&gt;&#10;        &lt;Text style={{ fontSize: 60, color: '#E5EDF7', fontWeight: 'bold', marginTop: 16 }}&gt;项目总览&lt;/Text&gt;&#10;      &lt;/Animation&gt;&#10;      &lt;Animation animType=&quot;fadeIn&quot; startType=&quot;afterPrevious&quot; duration={700}&gt;&#10;        &lt;Text style={{ fontSize: 22, color: '#94A3B8', marginTop: 22 }}&gt;把一台扫地机器人，改装成能在地外作业的宇宙挖矿机器人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1"/>
              </a:ext>
            </a:extLst>
          </a:blip>
          <a:srcRect l="0" t="21875" r="0" b="2187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0000"/>
                </a:srgbClr>
              </a:gs>
              <a:gs pos="100000">
                <a:srgbClr val="0B1120">
                  <a:alpha val="50000"/>
                </a:srgbClr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14400" y="25812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00">
                <a:solidFill>
                  <a:srgbClr val="22D3EE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14400" y="3124200"/>
            <a:ext cx="103632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项目总览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把一台扫地机器人，改装成能在地外作业的宇宙挖矿机器人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8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9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9" name="" descr="&lt;Slide type=&quot;content&quot;&gt;&#10;  &lt;Box style={{ width: '100%', height: '100%', background: '#0B1120', flexDirection: 'row' }}&gt;&#10;    &lt;Box style={{ width: '56%', height: '100%', justifyContent: 'center', alignItems: 'center', padding: '44px' }}&gt;&#10;      &lt;Image src=&quot;assets/system_architecture.svg&quot; style={{ width: '100%', height: '100%', objectFit: 'contain' }} /&gt;&#10;    &lt;/Box&gt;&#10;    &lt;Box style={{ flex: 1, justifyContent: 'center', padding: '0 52px', gap: 16 }}&gt;&#10;      &lt;Animation animType=&quot;fadeIn&quot; duration={600}&gt;&#10;        &lt;Text style={{ fontSize: 34, color: '#E5EDF7', fontWeight: 'bold' }}&gt;整体系统架构&lt;/Text&gt;&#10;      &lt;/Animation&gt;&#10;      &lt;Animation animType=&quot;fadeIn&quot; startType=&quot;afterPrevious&quot; duration={600}&gt;&#10;        &lt;Text style={{ fontSize: 17, color: '#94A3B8', lineHeight: 1.75 }}&gt;&#10;          一台 CMR 由五层构成，从成熟消费底座一路改装到地外作业闭环：移动底座 → 不锈钢抗辐照机身 → 第三代半导体抗辐射算力 → 多光谱感知与钻采工具头 → 星链通讯 + 区块链账本。&#10;        &lt;/Text&gt;&#10;      &lt;/Animation&gt;&#10;      &lt;Animation animType=&quot;fadeIn&quot; startType=&quot;afterPrevious&quot; duration={600}&gt;&#10;        &lt;Box style={{ gap: 10, marginTop: 6 }}&gt;&#10;          &lt;Box style={{ flexDirection: 'row', gap: 12, alignItems: 'center' }}&gt;&lt;Text style={{ fontSize: 18, color: '#3B82F6', fontWeight: 'bold' }}&gt;①&lt;/Text&gt;&lt;Text style={{ fontSize: 16, color: '#CBD5E1' }}&gt;移动底座：扫地机器人底盘 + SLAM 导航（oomwoo 开源）&lt;/Text&gt;&lt;/Box&gt;&#10;          &lt;Box style={{ flexDirection: 'row', gap: 12, alignItems: 'center' }}&gt;&lt;Text style={{ fontSize: 18, color: '#22D3EE', fontWeight: 'bold' }}&gt;②&lt;/Text&gt;&lt;Text style={{ fontSize: 16, color: '#CBD5E1' }}&gt;机身：316L 不锈钢外壳，兼顾散热 / 抗粒子 / 强度&lt;/Text&gt;&lt;/Box&gt;&#10;          &lt;Box style={{ flexDirection: 'row', gap: 12, alignItems: 'center' }}&gt;&lt;Text style={{ fontSize: 18, color: '#F59E0B', fontWeight: 'bold' }}&gt;③&lt;/Text&gt;&lt;Text style={{ fontSize: 16, color: '#CBD5E1' }}&gt;算力：西电 SiC + 广州 GaN 中试 + 宇航级 SoC&lt;/Text&gt;&lt;/Box&gt;&#10;          &lt;Box style={{ flexDirection: 'row', gap: 12, alignItems: 'center' }}&gt;&lt;Text style={{ fontSize: 18, color: '#A78BFA', fontWeight: 'bold' }}&gt;④&lt;/Text&gt;&lt;Text style={{ fontSize: 16, color: '#CBD5E1' }}&gt;作业：多光谱相机 + 钻采工具头识别采矿&lt;/Text&gt;&lt;/Box&gt;&#10;          &lt;Box style={{ flexDirection: 'row', gap: 12, alignItems: 'center' }}&gt;&lt;Text style={{ fontSize: 18, color: '#34D399', fontWeight: 'bold' }}&gt;⑤&lt;/Text&gt;&lt;Text style={{ fontSize: 16, color: '#CBD5E1' }}&gt;闭环：Starlink 回传 + 区块链溯源与资产化&lt;/Text&gt;&lt;/Box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237" t="0" r="237" b="0"/>
          <a:stretch>
            <a:fillRect/>
          </a:stretch>
        </p:blipFill>
        <p:spPr>
          <a:xfrm rot="0" flipH="0" flipV="0">
            <a:off x="419100" y="419100"/>
            <a:ext cx="5991225" cy="6019800"/>
          </a:xfrm>
          <a:prstGeom prst="rect">
            <a:avLst/>
          </a:prstGeom>
          <a:ln/>
        </p:spPr>
      </p:pic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324725" y="16573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整体系统架构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324725" y="2200275"/>
            <a:ext cx="43719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一台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CMR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由五层构成，从成熟消费底座一路改装到地外作业闭环：移动底座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不锈钢抗辐照机身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第三代半导体抗辐射算力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多光谱感知与钻采工具头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星链通讯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区块链账本。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324725" y="37719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610475" y="3781425"/>
            <a:ext cx="408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移动底座：扫地机器人底盘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SLAM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导航（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oomwoo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开源）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324725" y="40767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22D3EE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610475" y="4086225"/>
            <a:ext cx="3448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机身：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316L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不锈钢外壳，兼顾散热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抗粒子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强度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324725" y="43815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10475" y="439102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算力：西电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SiC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广州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GaN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中试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宇航级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SoC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324725" y="46863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A78BFA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10475" y="4695825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作业：多光谱相机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钻采工具头识别采矿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324725" y="49911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10475" y="5000625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闭环：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Starlink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回传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区块链溯源与资产化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2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2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14" name="" descr="&lt;Slide type=&quot;content&quot;&gt;&#10;  &lt;Box style={{ width: '100%', height: '100%', background: '#0B1120', flexDirection: 'row' }}&gt;&#10;    &lt;Box style={{ width: '60%', height: '100%', justifyContent: 'center', padding: '0 56px', gap: 14 }}&gt;&#10;      &lt;Animation animType=&quot;fadeIn&quot; duration={600}&gt;&#10;        &lt;Text style={{ fontSize: 32, color: '#E5EDF7', fontWeight: 'bold' }}&gt;改装逻辑：为什么是扫地机器人&lt;/Text&gt;&#10;      &lt;/Animation&gt;&#10;      &lt;Animation animType=&quot;fadeIn&quot; startType=&quot;afterPrevious&quot; duration={600}&gt;&#10;        &lt;Text style={{ fontSize: 17, color: '#94A3B8', lineHeight: 1.8 }}&gt;&#10;          改装不是从零造机器人，而是「站在量产肩膀上」。消费级扫地机器人已经解决了最难的移动与自主问题，我们只需替换上身与作业模块，就能把清洁能力翻转成采矿能力。&#10;        &lt;/Text&gt;&#10;      &lt;/Animation&gt;&#10;      &lt;Animation animType=&quot;fadeIn&quot; startType=&quot;afterPrevious&quot; duration={600}&gt;&#10;        &lt;Box style={{ gap: 12, marginTop: 6 }}&gt;&#10;          &lt;Text style={{ fontSize: 16, color: '#CBD5E1', lineHeight: 1.7 }}&gt;· 成熟底盘：量产轮组 / 电池 / IMU，免从零研发&lt;/Text&gt;&#10;          &lt;Text style={{ fontSize: 16, color: '#CBD5E1', lineHeight: 1.7 }}&gt;· 自主导航：ROS2 + Nav2 全覆盖路径，直接复用&lt;/Text&gt;&#10;          &lt;Text style={{ fontSize: 16, color: '#CBD5E1', lineHeight: 1.7 }}&gt;· 结构空间：圆形机身 + 集尘盒，天然容纳钻采 / 样本仓&lt;/Text&gt;&#10;          &lt;Text style={{ fontSize: 16, color: '#CBD5E1', lineHeight: 1.7 }}&gt;· 成本可控：消费底座约千元内，改装后价值跃升&lt;/Text&gt;&#10;          &lt;Text style={{ fontSize: 16, color: '#CBD5E1', lineHeight: 1.7 }}&gt;· 可验证：本地仿真即可闭环，无需先发射&lt;/Text&gt;&#10;        &lt;/Box&gt;&#10;      &lt;/Animation&gt;&#10;    &lt;/Box&gt;&#10;    &lt;Box style={{ width: '40%', height: '100%', justifyContent: 'center', padding: '0 40px', gap: 16 }}&gt;&#10;      &lt;Animation animType=&quot;fadeIn&quot; startType=&quot;afterPrevious&quot; duration={600}&gt;&#10;        &lt;Box style={{ background: '#0F1B33', border: '1px solid #1E3A5F', borderRadius: 12, padding: 20 }}&gt;&#10;          &lt;Text style={{ fontSize: 20, color: '#3B82F6', fontWeight: 'bold' }}&gt;成熟&lt;/Text&gt;&#10;          &lt;Text style={{ fontSize: 14, color: '#94A3B8', marginTop: 6, lineHeight: 1.6 }}&gt;量产地盘，可靠性已被市场验证&lt;/Text&gt;&#10;        &lt;/Box&gt;&#10;      &lt;/Animation&gt;&#10;      &lt;Animation animType=&quot;fadeIn&quot; startType=&quot;afterPrevious&quot; duration={600}&gt;&#10;        &lt;Box style={{ background: '#0F1B33', border: '1px solid #1E3A5F', borderRadius: 12, padding: 20 }}&gt;&#10;          &lt;Text style={{ fontSize: 20, color: '#22D3EE', fontWeight: 'bold' }}&gt;自主&lt;/Text&gt;&#10;          &lt;Text style={{ fontSize: 14, color: '#94A3B8', marginTop: 6, lineHeight: 1.6 }}&gt;自带 SLAM 与全覆盖算法内核&lt;/Text&gt;&#10;        &lt;/Box&gt;&#10;      &lt;/Animation&gt;&#10;      &lt;Animation animType=&quot;fadeIn&quot; startType=&quot;afterPrevious&quot; duration={600}&gt;&#10;        &lt;Box style={{ background: '#0F1B33', border: '1px solid #1E3A5F', borderRadius: 12, padding: 20 }}&gt;&#10;          &lt;Text style={{ fontSize: 20, color: '#F59E0B', fontWeight: 'bold' }}&gt;可改&lt;/Text&gt;&#10;          &lt;Text style={{ fontSize: 14, color: '#94A3B8', marginTop: 6, lineHeight: 1.6 }}&gt;集尘盒改造为集尘 / 样本双仓&lt;/Text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33400" y="1714500"/>
            <a:ext cx="624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5EDF7"/>
                </a:solidFill>
                <a:latin typeface="Microsoft YaHei"/>
                <a:ea typeface="Microsoft YaHei"/>
              </a:rPr>
              <a:t>改装逻辑：为什么是扫地机器人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33400" y="2219325"/>
            <a:ext cx="62484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改装不是从零造机器人，而是「站在量产肩膀上」。消费级扫地机器人已经解决了最难的移动与自主问题，我们只需替换上身与作业模块，就能把清洁能力翻转成采矿能力。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3400" y="3114675"/>
            <a:ext cx="6248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成熟底盘：量产轮组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电池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IMU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，免从零研发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33400" y="3543300"/>
            <a:ext cx="6248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自主导航：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ROS2 + Nav2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全覆盖路径，直接复用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33400" y="3971925"/>
            <a:ext cx="6248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结构空间：圆形机身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集尘盒，天然容纳钻采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样本仓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3400" y="4400550"/>
            <a:ext cx="6248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成本可控：消费底座约千元内，改装后价值跃升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33400" y="4829175"/>
            <a:ext cx="6248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可验证：本地仿真即可闭环，无需先发射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696200" y="1895475"/>
            <a:ext cx="4114800" cy="923925"/>
          </a:xfrm>
          <a:prstGeom prst="roundRect">
            <a:avLst>
              <a:gd name="adj" fmla="val 12371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86700" y="208597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B82F6"/>
                </a:solidFill>
                <a:latin typeface="Microsoft YaHei"/>
                <a:ea typeface="Microsoft YaHei"/>
              </a:rPr>
              <a:t>成熟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86700" y="237172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量产地盘，可靠性已被市场验证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696200" y="2971800"/>
            <a:ext cx="4114800" cy="923925"/>
          </a:xfrm>
          <a:prstGeom prst="roundRect">
            <a:avLst>
              <a:gd name="adj" fmla="val 12371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86700" y="316230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Microsoft YaHei"/>
                <a:ea typeface="Microsoft YaHei"/>
              </a:rPr>
              <a:t>自主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86700" y="3448050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自带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SLAM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与全覆盖算法内核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7696200" y="4048125"/>
            <a:ext cx="4114800" cy="923925"/>
          </a:xfrm>
          <a:prstGeom prst="roundRect">
            <a:avLst>
              <a:gd name="adj" fmla="val 12371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886700" y="423862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可改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86700" y="452437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集尘盒改造为集尘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样本双仓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6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6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6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6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6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68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71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74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2" name="" descr="&lt;Slide type=&quot;section&quot;&gt;&#10;  &lt;Box style={{ position: 'relative', width: '100%', height: '100%', background: '#0B1120' }}&gt;&#10;    &lt;Image src=&quot;assets/cmr_structure.svg&quot; style={{ position: 'absolute', top: 0, left: 0, width: '100%', height: '100%', objectFit: 'cover', opacity: 0.4 }} /&gt;&#10;    &lt;Box style={{ position: 'absolute', top: 0, left: 0, width: '100%', height: '100%', background: 'linear-gradient(120deg, rgba(11,17,32,0.9) 0%, rgba(11,17,32,0.5) 100%)' }} /&gt;&#10;    &lt;Box style={{ position: 'relative', zIndex: 2, height: '100%', justifyContent: 'center', padding: '0 96px' }}&gt;&#10;      &lt;Animation animType=&quot;fadeIn&quot; duration={700}&gt;&#10;        &lt;Text style={{ fontSize: 34, color: '#22D3EE', fontWeight: 'bold', letterSpacing: 4 }}&gt;CHAPTER 02&lt;/Text&gt;&#10;      &lt;/Animation&gt;&#10;      &lt;Animation animType=&quot;fadeIn&quot; startType=&quot;afterPrevious&quot; duration={700}&gt;&#10;        &lt;Text style={{ fontSize: 60, color: '#E5EDF7', fontWeight: 'bold', marginTop: 16 }}&gt;机器结构与抗辐射芯片&lt;/Text&gt;&#10;      &lt;/Animation&gt;&#10;      &lt;Animation animType=&quot;fadeIn&quot; startType=&quot;afterPrevious&quot; duration={700}&gt;&#10;        &lt;Text style={{ fontSize: 22, color: '#94A3B8', marginTop: 22 }}&gt;316L 不锈钢机身 · 扫地机器人底座 · 西电第三代半导体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1"/>
              </a:ext>
            </a:extLst>
          </a:blip>
          <a:srcRect l="0" t="21875" r="0" b="2187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0000"/>
                </a:srgbClr>
              </a:gs>
              <a:gs pos="100000">
                <a:srgbClr val="0B1120">
                  <a:alpha val="50000"/>
                </a:srgbClr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14400" y="25812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00">
                <a:solidFill>
                  <a:srgbClr val="22D3EE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14400" y="3124200"/>
            <a:ext cx="103632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机器结构与抗辐射芯片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316L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不锈钢机身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扫地机器人底座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西电第三代半导体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7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28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28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7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9" name="" descr="&lt;Slide type=&quot;content&quot;&gt;&#10;  &lt;Box style={{ width: '100%', height: '100%', background: '#0B1120', flexDirection: 'row' }}&gt;&#10;    &lt;Box style={{ width: '55%', height: '100%', justifyContent: 'center', alignItems: 'center', padding: '40px' }}&gt;&#10;      &lt;Image src=&quot;assets/robo_base.svg&quot; style={{ width: '100%', height: '100%', objectFit: 'contain' }} /&gt;&#10;    &lt;/Box&gt;&#10;    &lt;Box style={{ flex: 1, justifyContent: 'center', padding: '0 52px', gap: 14 }}&gt;&#10;      &lt;Animation animType=&quot;fadeIn&quot; duration={600}&gt;&#10;        &lt;Text style={{ fontSize: 32, color: '#E5EDF7', fontWeight: 'bold' }}&gt;扫地机器人底座结构&lt;/Text&gt;&#10;      &lt;/Animation&gt;&#10;      &lt;Animation animType=&quot;fadeIn&quot; startType=&quot;afterPrevious&quot; duration={600}&gt;&#10;        &lt;Text style={{ fontSize: 16, color: '#94A3B8', lineHeight: 1.8 }}&gt;爆炸视图自底向上六层，是整台 CMR 的「腿」与「神经」。改装只动上身，底盘全部保留。&lt;/Text&gt;&#10;      &lt;/Animation&gt;&#10;      &lt;Animation animType=&quot;fadeIn&quot; startType=&quot;afterPrevious&quot; duration={600}&gt;&#10;        &lt;Box style={{ gap: 10, marginTop: 4 }}&gt;&#10;          &lt;Box style={{ flexDirection: 'row', gap: 12, alignItems: 'center' }}&gt;&lt;Text style={{ fontSize: 15, color: '#22D3EE', fontWeight: 'bold', width: 90 }}&gt;底盘轮组&lt;/Text&gt;&lt;Text style={{ fontSize: 15, color: '#CBD5E1' }}&gt;差速 / 全向轮，适应地外起伏地形&lt;/Text&gt;&lt;/Box&gt;&#10;          &lt;Box style={{ flexDirection: 'row', gap: 12, alignItems: 'center' }}&gt;&lt;Text style={{ fontSize: 15, color: '#22D3EE', fontWeight: 'bold', width: 90 }}&gt;电源&lt;/Text&gt;&lt;Text style={{ fontSize: 15, color: '#CBD5E1' }}&gt;锂电池 + 太阳能板（西电 SiC MPPT）&lt;/Text&gt;&lt;/Box&gt;&#10;          &lt;Box style={{ flexDirection: 'row', gap: 12, alignItems: 'center' }}&gt;&lt;Text style={{ fontSize: 15, color: '#22D3EE', fontWeight: 'bold', width: 90 }}&gt;感知&lt;/Text&gt;&lt;Text style={{ fontSize: 15, color: '#CBD5E1' }}&gt;LiDAR + 视觉 SLAM 传感器&lt;/Text&gt;&lt;/Box&gt;&#10;          &lt;Box style={{ flexDirection: 'row', gap: 12, alignItems: 'center' }}&gt;&lt;Text style={{ fontSize: 15, color: '#22D3EE', fontWeight: 'bold', width: 90 }}&gt;控制&lt;/Text&gt;&lt;Text style={{ fontSize: 15, color: '#CBD5E1' }}&gt;ROS2 边缘主控制器&lt;/Text&gt;&lt;/Box&gt;&#10;          &lt;Box style={{ flexDirection: 'row', gap: 12, alignItems: 'center' }}&gt;&lt;Text style={{ fontSize: 15, color: '#22D3EE', fontWeight: 'bold', width: 90 }}&gt;集尘盒&lt;/Text&gt;&lt;Text style={{ fontSize: 15, color: '#CBD5E1' }}&gt;改造为集尘 / 样本双仓&lt;/Text&gt;&lt;/Box&gt;&#10;          &lt;Box style={{ flexDirection: 'row', gap: 12, alignItems: 'center' }}&gt;&lt;Text style={{ fontSize: 15, color: '#22D3EE', fontWeight: 'bold', width: 90 }}&gt;上盖&lt;/Text&gt;&lt;Text style={{ fontSize: 15, color: '#CBD5E1' }}&gt;保险杠 + 对接不锈钢机身&lt;/Text&gt;&lt;/Box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250" t="0" r="1250" b="0"/>
          <a:stretch>
            <a:fillRect/>
          </a:stretch>
        </p:blipFill>
        <p:spPr>
          <a:xfrm rot="0" flipH="0" flipV="0">
            <a:off x="381000" y="381000"/>
            <a:ext cx="5943600" cy="60960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200900" y="2009775"/>
            <a:ext cx="4495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5EDF7"/>
                </a:solidFill>
                <a:latin typeface="Microsoft YaHei"/>
                <a:ea typeface="Microsoft YaHei"/>
              </a:rPr>
              <a:t>扫地机器人底座结构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200900" y="2514600"/>
            <a:ext cx="4495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爆炸视图自底向上六层，是整台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CMR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的「腿」与「神经」。改装只动上身，底盘全部保留。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200900" y="33528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底盘轮组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172450" y="3352800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差速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全向轮，适应地外起伏地形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200900" y="3619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电源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172450" y="3619500"/>
            <a:ext cx="2466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锂电池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太阳能板（西电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SiC MPPT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200900" y="38862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感知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172450" y="38862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LiDAR +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视觉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SLAM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传感器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200900" y="4152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172450" y="4152900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ROS2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边缘主控制器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200900" y="4419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集尘盒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72450" y="4419600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改造为集尘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样本双仓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200900" y="46863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上盖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172450" y="4686300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保险杠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对接不锈钢机身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6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6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6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6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6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6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6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6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6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2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6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2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6" name="" descr="&lt;Slide type=&quot;content&quot;&gt;&#10;  &lt;Box style={{ width: '100%', height: '100%', background: '#0B1120', flexDirection: 'column' }}&gt;&#10;    &lt;Box style={{ height: '56%', justifyContent: 'center', alignItems: 'center', padding: '24px 40px 0' }}&gt;&#10;      &lt;Image src=&quot;assets/cmr_structure.svg&quot; style={{ width: '100%', height: '100%', objectFit: 'contain' }} /&gt;&#10;    &lt;/Box&gt;&#10;    &lt;Box style={{ flex: 1, justifyContent: 'center', padding: '0 48px 36px', gap: 14 }}&gt;&#10;      &lt;Animation animType=&quot;fadeIn&quot; duration={600}&gt;&#10;        &lt;Text style={{ fontSize: 30, color: '#E5EDF7', fontWeight: 'bold', textAlign: 'center' }}&gt;整体改装结构：四层叠加&lt;/Text&gt;&#10;      &lt;/Animation&gt;&#10;      &lt;Animation animType=&quot;fadeIn&quot; startType=&quot;afterPrevious&quot; duration={600}&gt;&#10;        &lt;Box style={{ flexDirection: 'row', gap: 14 }}&gt;&#10;          &lt;Box style={{ flex: 1, background: '#0F1B33', border: '1px solid #1E3A5F', borderRadius: 12, padding: 16 }}&gt;&lt;Text style={{ fontSize: 17, color: '#3B82F6', fontWeight: 'bold' }}&gt;不锈钢外壳层&lt;/Text&gt;&lt;Text style={{ fontSize: 13, color: '#94A3B8', marginTop: 6, lineHeight: 1.6 }}&gt;316L 机身，抗辐照与散热骨架&lt;/Text&gt;&lt;/Box&gt;&#10;          &lt;Box style={{ flex: 1, background: '#0F1B33', border: '1px solid #1E3A5F', borderRadius: 12, padding: 16 }}&gt;&lt;Text style={{ fontSize: 17, color: '#22D3EE', fontWeight: 'bold' }}&gt;抗辐射算力层&lt;/Text&gt;&lt;Text style={{ fontSize: 13, color: '#94A3B8', marginTop: 6, lineHeight: 1.6 }}&gt;西电 / 广州三代半电源-算力主板&lt;/Text&gt;&lt;/Box&gt;&#10;          &lt;Box style={{ flex: 1, background: '#0F1B33', border: '1px solid #1E3A5F', borderRadius: 12, padding: 16 }}&gt;&lt;Text style={{ fontSize: 17, color: '#F59E0B', fontWeight: 'bold' }}&gt;工具头层&lt;/Text&gt;&lt;Text style={{ fontSize: 13, color: '#94A3B8', marginTop: 6, lineHeight: 1.6 }}&gt;多光谱相机 + 钻采机构&lt;/Text&gt;&lt;/Box&gt;&#10;          &lt;Box style={{ flex: 1, background: '#0F1B33', border: '1px solid #1E3A5F', borderRadius: 12, padding: 16 }}&gt;&lt;Text style={{ fontSize: 17, color: '#34D399', fontWeight: 'bold' }}&gt;通信层&lt;/Text&gt;&lt;Text style={{ fontSize: 13, color: '#94A3B8', marginTop: 6, lineHeight: 1.6 }}&gt;星链天线 + 区块链账本&lt;/Text&gt;&lt;/Box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1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34208" r="0" b="34208"/>
          <a:stretch>
            <a:fillRect/>
          </a:stretch>
        </p:blipFill>
        <p:spPr>
          <a:xfrm rot="0" flipH="0" flipV="0">
            <a:off x="381000" y="228600"/>
            <a:ext cx="11430000" cy="3609975"/>
          </a:xfrm>
          <a:prstGeom prst="rect">
            <a:avLst/>
          </a:prstGeom>
          <a:ln/>
        </p:spPr>
      </p:pic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57200" y="4543425"/>
            <a:ext cx="112776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整体改装结构：四层叠加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57200" y="5019675"/>
            <a:ext cx="2724150" cy="800100"/>
          </a:xfrm>
          <a:prstGeom prst="roundRect">
            <a:avLst>
              <a:gd name="adj" fmla="val 14286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5172075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不锈钢外壳层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5429250"/>
            <a:ext cx="24193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316L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机身，抗辐照与散热骨架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3314700" y="5019675"/>
            <a:ext cx="2714625" cy="800100"/>
          </a:xfrm>
          <a:prstGeom prst="roundRect">
            <a:avLst>
              <a:gd name="adj" fmla="val 14286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467100" y="5172075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Microsoft YaHei"/>
                <a:ea typeface="Microsoft YaHei"/>
              </a:rPr>
              <a:t>抗辐射算力层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467100" y="5429250"/>
            <a:ext cx="24098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西电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广州三代半电源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算力主板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162675" y="5019675"/>
            <a:ext cx="2724150" cy="800100"/>
          </a:xfrm>
          <a:prstGeom prst="roundRect">
            <a:avLst>
              <a:gd name="adj" fmla="val 14286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315075" y="5172075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Microsoft YaHei"/>
                <a:ea typeface="Microsoft YaHei"/>
              </a:rPr>
              <a:t>工具头层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15075" y="5429250"/>
            <a:ext cx="24193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多光谱相机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钻采机构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9020175" y="5019675"/>
            <a:ext cx="2714625" cy="800100"/>
          </a:xfrm>
          <a:prstGeom prst="roundRect">
            <a:avLst>
              <a:gd name="adj" fmla="val 14286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172575" y="5172075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4D399"/>
                </a:solidFill>
                <a:latin typeface="Microsoft YaHei"/>
                <a:ea typeface="Microsoft YaHei"/>
              </a:rPr>
              <a:t>通信层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172575" y="5429250"/>
            <a:ext cx="24098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星链天线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区块链账本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6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6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6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6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6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6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6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6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6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6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6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6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6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72" name="" descr="&lt;Slide type=&quot;content&quot;&gt;&#10;  &lt;Box style={{ width: '100%', height: '100%', background: '#0B1120', flexDirection: 'row' }}&gt;&#10;    &lt;Box style={{ width: '34%', height: '100%', justifyContent: 'center', padding: '0 48px', background: '#0F1B33' }}&gt;&#10;      &lt;Text style={{ fontSize: 40, color: '#E5EDF7', fontWeight: 'bold', lineHeight: 1.15 }}&gt;西电第三代&lt;Text style={{ color: '#22D3EE' }}&gt;&lt;br/&gt;半导体芯片&lt;/Text&gt;&lt;/Text&gt;&#10;      &lt;Text style={{ fontSize: 15, color: '#94A3B8', marginTop: 22, lineHeight: 1.7 }}&gt;抗辐射 · 耐高温&lt;Text style={{ color: '#94A3B8' }}&gt;&lt;br/&gt;&lt;/Text&gt;耐高压 · 大功率&lt;/Text&gt;&#10;    &lt;/Box&gt;&#10;    &lt;Box style={{ flex: 1, justifyContent: 'center', padding: '0 56px', gap: 14 }}&gt;&#10;      &lt;Animation animType=&quot;fadeIn&quot; duration={600}&gt;&#10;        &lt;Text style={{ fontSize: 16, color: '#CBD5E1', lineHeight: 1.8 }}&gt;· &lt;Text style={{ color: '#3B82F6', fontWeight: 'bold' }}&gt;西安电子科技大学&lt;/Text&gt;：抗辐射 SiC 功率器件随天舟六号入轨验证，面向航天 / 星链。&lt;/Text&gt;&#10;      &lt;/Animation&gt;&#10;      &lt;Animation animType=&quot;fadeIn&quot; startType=&quot;afterPrevious&quot; duration={600}&gt;&#10;        &lt;Text style={{ fontSize: 16, color: '#CBD5E1', lineHeight: 1.8 }}&gt;· &lt;Text style={{ color: '#22D3EE', fontWeight: 'bold' }}&gt;广州黄埔创新中心&lt;/Text&gt;（郝跃院士领衔）：6–8 英寸 GaN 中试线，抗辐射 / 耐高温特性。&lt;/Text&gt;&#10;      &lt;/Animation&gt;&#10;      &lt;Animation animType=&quot;fadeIn&quot; startType=&quot;afterPrevious&quot; duration={600}&gt;&#10;        &lt;Text style={{ fontSize: 16, color: '#CBD5E1', lineHeight: 1.8 }}&gt;· &lt;Text style={{ color: '#F59E0B', fontWeight: 'bold' }}&gt;南沙万顷沙&lt;/Text&gt;：芯粤能（车规 SiC 主驱）、南砂晶圆（12&quot; SiC 衬底）、芯聚能（功率模块）。&lt;/Text&gt;&#10;      &lt;/Animation&gt;&#10;      &lt;Animation animType=&quot;fadeIn&quot; startType=&quot;afterPrevious&quot; duration={600}&gt;&#10;        &lt;Text style={{ fontSize: 16, color: '#CBD5E1', lineHeight: 1.8 }}&gt;· &lt;Text style={{ color: '#34D399', fontWeight: 'bold' }}&gt;落地&lt;/Text&gt;：SiC 功率器件 + 宇航级 SoC 合成「电源-算力合一」主板。&lt;/Text&gt;&#10;      &lt;/Animation&gt;&#10;      &lt;Animation animType=&quot;fadeIn&quot; startType=&quot;afterPrevious&quot; duration={600}&gt;&#10;        &lt;Text style={{ fontSize: 15, color: '#64748B', lineHeight: 1.7 }}&gt;⚠ 仍需：辐照试验 + 飞行认证方可上星。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0" y="0"/>
            <a:ext cx="4143375" cy="685800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7200" y="2505075"/>
            <a:ext cx="3228975" cy="10572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E5EDF7"/>
                </a:solidFill>
                <a:latin typeface="Microsoft YaHei"/>
                <a:ea typeface="Microsoft YaHei"/>
              </a:rPr>
              <a:t>西电第三代</a:t>
            </a:r>
            <a:endParaRPr/>
          </a:p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E5EDF7"/>
                </a:solidFill>
                <a:latin typeface="Microsoft YaHei"/>
                <a:ea typeface="Microsoft YaHei"/>
              </a:rPr>
              <a:t>半导体芯片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57200" y="3771900"/>
            <a:ext cx="322897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抗辐射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耐高温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耐高压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大功率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676775" y="2352675"/>
            <a:ext cx="6981825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西安电子科技大学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：抗辐射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SiC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功率器件随天舟六号入轨验证，面向航天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星链。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676775" y="2819400"/>
            <a:ext cx="6981825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广州黄埔创新中心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（郝跃院士领衔）：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6–8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英寸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GaN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中试线，抗辐射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耐高温特性。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676775" y="3286125"/>
            <a:ext cx="6981825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南沙万顷沙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：芯粤能（车规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SiC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主驱）、南砂晶圆（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12" SiC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衬底）、芯聚能（功率模块）。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676775" y="3752850"/>
            <a:ext cx="6981825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落地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SiC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功率器件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宇航级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SoC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合成「电源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-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算力合一」主板。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676775" y="4219575"/>
            <a:ext cx="698182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⚠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仍需：辐照试验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飞行认证方可上星。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6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7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6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7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6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76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6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379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6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" name="" descr="&lt;Slide type=&quot;content&quot;&gt;&#10;  &lt;Box style={{ width: '100%', height: '100%', background: '#0B1120', flexDirection: 'row' }}&gt;&#10;    &lt;Box style={{ width: '56%', height: '100%', justifyContent: 'center', alignItems: 'center', padding: '40px' }}&gt;&#10;      &lt;Image src=&quot;assets/compile_pipeline.svg&quot; style={{ width: '100%', height: '100%', objectFit: 'contain' }} /&gt;&#10;    &lt;/Box&gt;&#10;    &lt;Box style={{ flex: 1, justifyContent: 'center', padding: '0 52px', gap: 14 }}&gt;&#10;      &lt;Animation animType=&quot;fadeIn&quot; duration={600}&gt;&#10;        &lt;Text style={{ fontSize: 30, color: '#E5EDF7', fontWeight: 'bold' }}&gt;CMR 编程 - 编译工具链&lt;/Text&gt;&#10;      &lt;/Animation&gt;&#10;      &lt;Animation animType=&quot;fadeIn&quot; startType=&quot;afterPrevious&quot; duration={600}&gt;&#10;        &lt;Text style={{ fontSize: 16, color: '#94A3B8', lineHeight: 1.8 }}&gt;算法在地面仿真，交叉编译到宇航 SoC，经星链 OTA 下发，在轨实时运行并固化上链。&lt;/Text&gt;&#10;      &lt;/Animation&gt;&#10;      &lt;Animation animType=&quot;fadeIn&quot; startType=&quot;afterPrevious&quot; duration={600}&gt;&#10;        &lt;Box style={{ gap: 10, marginTop: 4 }}&gt;&#10;          &lt;Text style={{ fontSize: 15, color: '#CBD5E1', lineHeight: 1.7 }}&gt;① 算法层：Python / NumPy 仿真内核 + AI 检测器&lt;/Text&gt;&#10;          &lt;Text style={{ fontSize: 15, color: '#CBD5E1', lineHeight: 1.7 }}&gt;② 交叉编译：ARM64 宇航 SoC 工具链（西电 / 广州平台）&lt;/Text&gt;&#10;          &lt;Text style={{ fontSize: 15, color: '#CBD5E1', lineHeight: 1.7 }}&gt;③ 烧录 OTA：星链下发扬程与模型权重&lt;/Text&gt;&#10;          &lt;Text style={{ fontSize: 15, color: '#CBD5E1', lineHeight: 1.7 }}&gt;④ 在轨运行：实时感知 → 决策 → 采矿 → 上链&lt;/Text&gt;&#10;          &lt;Text style={{ fontSize: 15, color: '#CBD5E1', lineHeight: 1.7 }}&gt;⑤ 区块链固化：每步动作上链溯源&lt;/Text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234" t="0" r="234" b="0"/>
          <a:stretch>
            <a:fillRect/>
          </a:stretch>
        </p:blipFill>
        <p:spPr>
          <a:xfrm rot="0" flipH="0" flipV="0">
            <a:off x="381000" y="381000"/>
            <a:ext cx="6067425" cy="6096000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324725" y="1847850"/>
            <a:ext cx="4371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CMR </a:t>
            </a: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编程</a:t>
            </a:r>
            <a:r>
              <a:rPr lang="en-US" sz="22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- </a:t>
            </a: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编译工具链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324725" y="2324100"/>
            <a:ext cx="43719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算法在地面仿真，交叉编译到宇航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SoC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，经星链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OTA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下发，在轨实时运行并固化上链。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324725" y="3162300"/>
            <a:ext cx="43719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算法层：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Python / NumPy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仿真内核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+ AI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检测器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324725" y="3552825"/>
            <a:ext cx="43719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交叉编译：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ARM64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宇航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SoC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工具链（西电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广州平台）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324725" y="3943350"/>
            <a:ext cx="43719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烧录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OTA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：星链下发扬程与模型权重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324725" y="4333875"/>
            <a:ext cx="43719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在轨运行：实时感知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决策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采矿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上链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324725" y="4724400"/>
            <a:ext cx="43719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区块链固化：每步动作上链溯源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" name="" descr="&lt;Slide type=&quot;section&quot;&gt;&#10;  &lt;Box style={{ position: 'relative', width: '100%', height: '100%', background: '#0B1120' }}&gt;&#10;    &lt;Image src=&quot;assets/starlink_coverage.svg&quot; style={{ position: 'absolute', top: 0, left: 0, width: '100%', height: '100%', objectFit: 'cover', opacity: 0.4 }} /&gt;&#10;    &lt;Box style={{ position: 'absolute', top: 0, left: 0, width: '100%', height: '100%', background: 'linear-gradient(120deg, rgba(11,17,32,0.9) 0%, rgba(11,17,32,0.5) 100%)' }} /&gt;&#10;    &lt;Box style={{ position: 'relative', zIndex: 2, height: '100%', justifyContent: 'center', padding: '0 96px' }}&gt;&#10;      &lt;Animation animType=&quot;fadeIn&quot; duration={700}&gt;&#10;        &lt;Text style={{ fontSize: 34, color: '#22D3EE', fontWeight: 'bold', letterSpacing: 4 }}&gt;CHAPTER 03&lt;/Text&gt;&#10;      &lt;/Animation&gt;&#10;      &lt;Animation animType=&quot;fadeIn&quot; startType=&quot;afterPrevious&quot; duration={700}&gt;&#10;        &lt;Text style={{ fontSize: 60, color: '#E5EDF7', fontWeight: 'bold', marginTop: 16 }}&gt;通讯与数据闭环&lt;/Text&gt;&#10;      &lt;/Animation&gt;&#10;      &lt;Animation animType=&quot;fadeIn&quot; startType=&quot;afterPrevious&quot; duration={700}&gt;&#10;        &lt;Text style={{ fontSize: 22, color: '#94A3B8', marginTop: 22 }}&gt;近地轨道 Starlink · 集尘盒识别与区块链售卖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1"/>
              </a:ext>
            </a:extLst>
          </a:blip>
          <a:srcRect l="0" t="21875" r="0" b="2187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0000"/>
                </a:srgbClr>
              </a:gs>
              <a:gs pos="100000">
                <a:srgbClr val="0B1120">
                  <a:alpha val="50000"/>
                </a:srgbClr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14400" y="25812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00">
                <a:solidFill>
                  <a:srgbClr val="22D3EE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14400" y="3124200"/>
            <a:ext cx="103632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通讯与数据闭环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近地轨道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Starlink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集尘盒识别与区块链售卖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3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" name="" descr="&lt;Slide type=&quot;content&quot;&gt;&#10;  &lt;Box style={{ width: '100%', height: '100%', background: '#0B1120', flexDirection: 'row' }}&gt;&#10;    &lt;Box style={{ width: '55%', height: '100%', justifyContent: 'center', alignItems: 'center', padding: '40px' }}&gt;&#10;      &lt;Image src=&quot;assets/starlink_coverage.svg&quot; style={{ width: '100%', height: '100%', objectFit: 'contain' }} /&gt;&#10;    &lt;/Box&gt;&#10;    &lt;Box style={{ flex: 1, justifyContent: 'center', padding: '0 52px', gap: 14 }}&gt;&#10;      &lt;Animation animType=&quot;fadeIn&quot; duration={600}&gt;&#10;        &lt;Text style={{ fontSize: 30, color: '#E5EDF7', fontWeight: 'bold' }}&gt;近地轨道 Starlink 覆盖&lt;/Text&gt;&#10;      &lt;/Animation&gt;&#10;      &lt;Animation animType=&quot;fadeIn&quot; startType=&quot;afterPrevious&quot; duration={600}&gt;&#10;        &lt;Text style={{ fontSize: 16, color: '#94A3B8', lineHeight: 1.8 }}&gt;近地轨道区域可接入 Musk 星链星座，过顶窗口轮替供网，深空段由信使号中继补盲。&lt;/Text&gt;&#10;      &lt;/Animation&gt;&#10;      &lt;Animation animType=&quot;fadeIn&quot; startType=&quot;afterPrevious&quot; duration={600}&gt;&#10;        &lt;Box style={{ gap: 12, marginTop: 4 }}&gt;&#10;          &lt;Box style={{ flexDirection: 'row', justifyContent: 'space-between', alignItems: 'center' }}&gt;&lt;Text style={{ fontSize: 15, color: '#CBD5E1' }}&gt;通讯覆盖率&lt;/Text&gt;&lt;Text style={{ fontSize: 15, color: '#22D3EE', fontWeight: 'bold' }}&gt;~100%（仿真）&lt;/Text&gt;&lt;/Box&gt;&#10;          &lt;Box style={{ flexDirection: 'row', justifyContent: 'space-between', alignItems: 'center' }}&gt;&lt;Text style={{ fontSize: 15, color: '#CBD5E1' }}&gt;链路时延&lt;/Text&gt;&lt;Text style={{ fontSize: 15, color: '#22D3EE', fontWeight: 'bold' }}&gt;28 – 61 ms&lt;/Text&gt;&lt;/Box&gt;&#10;          &lt;Box style={{ flexDirection: 'row', justifyContent: 'space-between', alignItems: 'center' }}&gt;&lt;Text style={{ fontSize: 15, color: '#CBD5E1' }}&gt;离线缓存&lt;/Text&gt;&lt;Text style={{ fontSize: 15, color: '#22D3EE', fontWeight: 'bold' }}&gt;store-and-forward 队列&lt;/Text&gt;&lt;/Box&gt;&#10;          &lt;Box style={{ flexDirection: 'row', justifyContent: 'space-between', alignItems: 'center' }}&gt;&lt;Text style={{ fontSize: 15, color: '#CBD5E1' }}&gt;资产发布&lt;/Text&gt;&lt;Text style={{ fontSize: 15, color: '#22D3EE', fontWeight: 'bold' }}&gt;星链回传成交&lt;/Text&gt;&lt;/Box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250" t="0" r="1250" b="0"/>
          <a:stretch>
            <a:fillRect/>
          </a:stretch>
        </p:blipFill>
        <p:spPr>
          <a:xfrm rot="0" flipH="0" flipV="0">
            <a:off x="381000" y="381000"/>
            <a:ext cx="5943600" cy="60960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00900" y="2257425"/>
            <a:ext cx="4495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近地轨道</a:t>
            </a:r>
            <a:r>
              <a:rPr lang="en-US" sz="22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Starlink </a:t>
            </a: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覆盖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00900" y="2733675"/>
            <a:ext cx="4495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近地轨道区域可接入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Musk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星链星座，过顶窗口轮替供网，深空段由信使号中继补盲。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200900" y="35718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通讯覆盖率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610850" y="3571875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~100%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（仿真）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200900" y="3857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链路时延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925175" y="385762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28 – 61 ms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200900" y="4143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离线缓存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029825" y="4143375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store-and-forward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队列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200900" y="4429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资产发布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839450" y="44291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星链回传成交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6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6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type=&quot;content&quot;&gt;&#10;  &lt;Box style={{ width: '100%', height: '100%', background: '#0B1120', flexDirection: 'row' }}&gt;&#10;    &lt;Box style={{ width: '60%', height: '100%', justifyContent: 'center', padding: '0 56px', gap: 14 }}&gt;&#10;      &lt;Animation animType=&quot;fadeIn&quot; duration={600}&gt;&#10;        &lt;Text style={{ fontSize: 30, color: '#E5EDF7', fontWeight: 'bold' }}&gt;集尘盒识别 → 区块链售卖&lt;/Text&gt;&#10;      &lt;/Animation&gt;&#10;      &lt;Animation animType=&quot;fadeIn&quot; startType=&quot;afterPrevious&quot; duration={600}&gt;&#10;        &lt;Text style={{ fontSize: 16, color: '#94A3B8', lineHeight: 1.85 }}&gt;集尘盒装满后，机载摄像头生成真实图像，识别材质并铸造为可售区块链资产，经星链成交后上链，全程可溯源。&lt;/Text&gt;&#10;      &lt;/Animation&gt;&#10;      &lt;Animation animType=&quot;fadeIn&quot; startType=&quot;afterPrevious&quot; duration={600}&gt;&#10;        &lt;Box style={{ gap: 10, marginTop: 4 }}&gt;&#10;          &lt;Text style={{ fontSize: 15, color: '#CBD5E1', lineHeight: 1.7 }}&gt;① 集尘盒满 → 摄像头成像（真实 PNG 快照）&lt;/Text&gt;&#10;          &lt;Text style={{ fontSize: 15, color: '#CBD5E1', lineHeight: 1.7 }}&gt;② 材质分类：金属矿 / 硅酸盐 / 水冰（准确率 100%）&lt;/Text&gt;&#10;          &lt;Text style={{ fontSize: 15, color: '#CBD5E1', lineHeight: 1.7 }}&gt;③ 每批铸造资产（LOT 编号 + 市场估价 ¥）&lt;/Text&gt;&#10;          &lt;Text style={{ fontSize: 15, color: '#CBD5E1', lineHeight: 1.7 }}&gt;④ 星链回传成交 → 上链（asset + sale 区块）&lt;/Text&gt;&#10;        &lt;/Box&gt;&#10;      &lt;/Animation&gt;&#10;    &lt;/Box&gt;&#10;    &lt;Box style={{ width: '40%', height: '100%', justifyContent: 'center', padding: '0 40px', gap: 16 }}&gt;&#10;      &lt;Animation animType=&quot;fadeIn&quot; startType=&quot;afterPrevious&quot; duration={600}&gt;&#10;        &lt;Box style={{ background: '#0F1B33', border: '1px solid #1E3A5F', borderRadius: 12, padding: 20 }}&gt;&#10;          &lt;Text style={{ fontSize: 16, color: '#34D399', fontWeight: 'bold' }}&gt;溯源能力&lt;/Text&gt;&#10;          &lt;Text style={{ fontSize: 14, color: '#94A3B8', marginTop: 6, lineHeight: 1.7 }}&gt;任一矿样沿链回溯到机器人 / 坐标 / 品位 / 哈希&lt;/Text&gt;&#10;        &lt;/Box&gt;&#10;      &lt;/Animation&gt;&#10;      &lt;Animation animType=&quot;fadeIn&quot; startType=&quot;afterPrevious&quot; duration={600}&gt;&#10;        &lt;Box style={{ background: '#0F1B33', border: '1px solid #1E3A5F', borderRadius: 12, padding: 20 }}&gt;&#10;          &lt;Text style={{ fontSize: 16, color: '#F59E0B', fontWeight: 'bold' }}&gt;完整性&lt;/Text&gt;&#10;          &lt;Text style={{ fontSize: 14, color: '#94A3B8', marginTop: 6, lineHeight: 1.7 }}&gt;SHA256 哈希链，篡改即校验失败&lt;/Text&gt;&#10;        &lt;/Box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33400" y="2028825"/>
            <a:ext cx="6248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集尘盒识别</a:t>
            </a:r>
            <a:r>
              <a:rPr lang="en-US" sz="22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250" b="1">
                <a:solidFill>
                  <a:srgbClr val="E5EDF7"/>
                </a:solidFill>
                <a:latin typeface="Microsoft YaHei"/>
                <a:ea typeface="Microsoft YaHei"/>
              </a:rPr>
              <a:t>区块链售卖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33400" y="2505075"/>
            <a:ext cx="62484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集尘盒装满后，机载摄像头生成真实图像，识别材质并铸造为可售区块链资产，经星链成交后上链，全程可溯源。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33400" y="3362325"/>
            <a:ext cx="6248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集尘盒满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摄像头成像（真实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PNG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快照）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33400" y="3752850"/>
            <a:ext cx="6248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材质分类：金属矿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硅酸盐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水冰（准确率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100%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33400" y="4143375"/>
            <a:ext cx="6248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每批铸造资产（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LOT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编号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市场估价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¥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33400" y="4533900"/>
            <a:ext cx="6248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星链回传成交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上链（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asset + sale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区块）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696200" y="2447925"/>
            <a:ext cx="4114800" cy="904875"/>
          </a:xfrm>
          <a:prstGeom prst="roundRect">
            <a:avLst>
              <a:gd name="adj" fmla="val 12632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86700" y="2638425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4D399"/>
                </a:solidFill>
                <a:latin typeface="Microsoft YaHei"/>
                <a:ea typeface="Microsoft YaHei"/>
              </a:rPr>
              <a:t>溯源能力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886700" y="2886075"/>
            <a:ext cx="37338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任一矿样沿链回溯到机器人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坐标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品位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哈希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696200" y="3505200"/>
            <a:ext cx="4114800" cy="904875"/>
          </a:xfrm>
          <a:prstGeom prst="roundRect">
            <a:avLst>
              <a:gd name="adj" fmla="val 12632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886700" y="36957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完整性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86700" y="3943350"/>
            <a:ext cx="37338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SHA256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哈希链，篡改即校验失败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97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00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03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2" name="" descr="&lt;Slide type=&quot;section&quot;&gt;&#10;  &lt;Box style={{ position: 'relative', width: '100%', height: '100%', background: '#0B1120' }}&gt;&#10;    &lt;Image src=&quot;assets/system_architecture.svg&quot; style={{ position: 'absolute', top: 0, left: 0, width: '100%', height: '100%', objectFit: 'cover', opacity: 0.4 }} /&gt;&#10;    &lt;Box style={{ position: 'absolute', top: 0, left: 0, width: '100%', height: '100%', background: 'linear-gradient(120deg, rgba(11,17,32,0.9) 0%, rgba(11,17,32,0.5) 100%)' }} /&gt;&#10;    &lt;Box style={{ position: 'relative', zIndex: 2, height: '100%', justifyContent: 'center', padding: '0 96px' }}&gt;&#10;      &lt;Animation animType=&quot;fadeIn&quot; duration={700}&gt;&#10;        &lt;Text style={{ fontSize: 34, color: '#22D3EE', fontWeight: 'bold', letterSpacing: 4 }}&gt;CHAPTER 04&lt;/Text&gt;&#10;      &lt;/Animation&gt;&#10;      &lt;Animation animType=&quot;fadeIn&quot; startType=&quot;afterPrevious&quot; duration={700}&gt;&#10;        &lt;Text style={{ fontSize: 60, color: '#E5EDF7', fontWeight: 'bold', marginTop: 16 }}&gt;仿真验证与展望&lt;/Text&gt;&#10;      &lt;/Animation&gt;&#10;      &lt;Animation animType=&quot;fadeIn&quot; startType=&quot;afterPrevious&quot; duration={700}&gt;&#10;        &lt;Text style={{ fontSize: 22, color: '#94A3B8', marginTop: 22 }}&gt;三场景演示结果 · GitHub 开源发布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1"/>
              </a:ext>
            </a:extLst>
          </a:blip>
          <a:srcRect l="0" t="21875" r="0" b="2187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>
                  <a:alpha val="90000"/>
                </a:srgbClr>
              </a:gs>
              <a:gs pos="100000">
                <a:srgbClr val="0B1120">
                  <a:alpha val="50000"/>
                </a:srgbClr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4400" y="25812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00">
                <a:solidFill>
                  <a:srgbClr val="22D3EE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14400" y="3124200"/>
            <a:ext cx="103632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仿真验证与展望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三场景演示结果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GitHub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开源发布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0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12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59" name="" descr="&lt;Slide type=&quot;content&quot;&gt;&#10;  &lt;Box style={{ width: '100%', height: '100%', background: '#0B1120', flexDirection: 'row' }}&gt;&#10;    &lt;Box style={{ width: '56%', height: '100%', justifyContent: 'center', padding: '40px 30px' }}&gt;&#10;      &lt;Chart&#10;        style={{ height: '72%', width: '100%' }}&#10;        chartType='barChart'&#10;        barDirection='column'&#10;        title='三场景星链成交额对比（¥）'&#10;        titleColor='#E5EDF7'&#10;        showLegend={false}&#10;        showDataLabels={true}&#10;        dataLabelColor='#E5EDF7'&#10;        legendColor='#94A3B8'&#10;        axisColor='#94A3B8'&#10;        colors={['#22D3EE']}&#10;        background='#0B1120'&#10;        data={[&#10;          ['场景', '星链成交额'],&#10;          ['DEPOT 地月基地', 21801],&#10;          ['MARS 火星车', 10859],&#10;          ['GENERIC 类月', 16188],&#10;        ]}&#10;      /&gt;&#10;    &lt;/Box&gt;&#10;    &lt;Box style={{ flex: 1, justifyContent: 'center', padding: '0 48px', gap: 14 }}&gt;&#10;      &lt;Animation animType=&quot;fadeIn&quot; duration={600}&gt;&#10;        &lt;Text style={{ fontSize: 28, color: '#E5EDF7', fontWeight: 'bold' }}&gt;三场景仿真结果&lt;/Text&gt;&#10;      &lt;/Animation&gt;&#10;      &lt;Animation animType=&quot;fadeIn&quot; startType=&quot;afterPrevious&quot; duration={600}&gt;&#10;        &lt;Box style={{ gap: 10, marginTop: 4 }}&gt;&#10;          &lt;Text style={{ fontSize: 15, color: '#CBD5E1', lineHeight: 1.7 }}&gt;· DEPOT：采矿 67 点 / 集尘排空 25 批 / 区块 118&lt;/Text&gt;&#10;          &lt;Text style={{ fontSize: 15, color: '#CBD5E1', lineHeight: 1.7 }}&gt;· MARS：86 步尘暴 / 集尘 23 批 / 区块 104&lt;/Text&gt;&#10;          &lt;Text style={{ fontSize: 15, color: '#CBD5E1', lineHeight: 1.7 }}&gt;· 区块链完整性校验：全部通过&lt;/Text&gt;&#10;          &lt;Text style={{ fontSize: 15, color: '#CBD5E1', lineHeight: 1.7 }}&gt;· 星链覆盖率 ~100%，时延 28–61 ms&lt;/Text&gt;&#10;        &lt;/Box&gt;&#10;      &lt;/Animation&gt;&#10;      &lt;Animation animType=&quot;fadeIn&quot; startType=&quot;afterPrevious&quot; duration={600}&gt;&#10;        &lt;Text style={{ fontSize: 14, color: '#F59E0B', lineHeight: 1.7 }}&gt;⚠ 待优化：火星红色风化层干扰检测，精确率 0.54，需专属重训练。&lt;/Text&gt;&#10;      &lt;/Animation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graphicFrame>
        <p:nvGraphicFramePr>
          <p:cNvPr id="61" name="61"/>
          <p:cNvGraphicFramePr/>
          <p:nvPr/>
        </p:nvGraphicFramePr>
        <p:xfrm rot="0" flipH="0" flipV="0">
          <a:off x="285750" y="962025"/>
          <a:ext cx="6257925" cy="49339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286625" y="2247900"/>
            <a:ext cx="4448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E5EDF7"/>
                </a:solidFill>
                <a:latin typeface="Microsoft YaHei"/>
                <a:ea typeface="Microsoft YaHei"/>
              </a:rPr>
              <a:t>三场景仿真结果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286625" y="2743200"/>
            <a:ext cx="44481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· DEPOT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：采矿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67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点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集尘排空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批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区块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118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286625" y="3133725"/>
            <a:ext cx="44481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>· MARS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86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步尘暴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集尘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23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批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区块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104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286625" y="3524250"/>
            <a:ext cx="44481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区块链完整性校验：全部通过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286625" y="3914775"/>
            <a:ext cx="44481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星链覆盖率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~100%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，时延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28–61 ms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286625" y="4343400"/>
            <a:ext cx="4448175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F59E0B"/>
                </a:solidFill>
                <a:latin typeface="Microsoft YaHei"/>
                <a:ea typeface="Microsoft YaHei"/>
              </a:rPr>
              <a:t xml:space="preserve">⚠ </a:t>
            </a:r>
            <a:r>
              <a:rPr lang="zh-CN" sz="1050">
                <a:solidFill>
                  <a:srgbClr val="F59E0B"/>
                </a:solidFill>
                <a:latin typeface="Microsoft YaHei"/>
                <a:ea typeface="Microsoft YaHei"/>
              </a:rPr>
              <a:t>待优化：火星红色风化层干扰检测，精确率</a:t>
            </a:r>
            <a:r>
              <a:rPr lang="en-US" sz="1050">
                <a:solidFill>
                  <a:srgbClr val="F59E0B"/>
                </a:solidFill>
                <a:latin typeface="Microsoft YaHei"/>
                <a:ea typeface="Microsoft YaHei"/>
              </a:rPr>
              <a:t xml:space="preserve"> 0.54</a:t>
            </a:r>
            <a:r>
              <a:rPr lang="zh-CN" sz="1050">
                <a:solidFill>
                  <a:srgbClr val="F59E0B"/>
                </a:solidFill>
                <a:latin typeface="Microsoft YaHei"/>
                <a:ea typeface="Microsoft YaHei"/>
              </a:rPr>
              <a:t>，需专属重训练。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2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3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type=&quot;ending&quot;&gt;&#10;  &lt;Box style={{ width: '100%', height: '100%', background: '#0B1120', justifyContent: 'center', alignItems: 'center', padding: '0 80px' }}&gt;&#10;    &lt;Animation animType=&quot;fadeIn&quot; duration={700}&gt;&#10;      &lt;Text style={{ fontSize: 46, color: '#E5EDF7', fontWeight: 'bold', textAlign: 'center', lineHeight: 1.25 }}&gt;一台扫地机器人，&lt;Text style={{ color: '#22D3EE' }}&gt;一条通往宇宙采矿的技术闭环&lt;/Text&gt;&lt;/Text&gt;&#10;    &lt;/Animation&gt;&#10;    &lt;Animation animType=&quot;fadeIn&quot; startType=&quot;afterPrevious&quot; duration={700}&gt;&#10;      &lt;Box style={{ background: '#0F1B33', border: '1px solid #1E3A5F', borderRadius: 14, padding: '28px 40px', marginTop: 36, alignItems: 'center' }}&gt;&#10;        &lt;Text style={{ fontSize: 22, color: '#3B82F6', fontWeight: 'bold' }}&gt;github.com/yydemo/cosmic-mining-robot&lt;/Text&gt;&#10;        &lt;Text style={{ fontSize: 16, color: '#94A3B8', marginTop: 12, textAlign: 'center', lineHeight: 1.7 }}&gt;含仿真内核 / 结构图 / 区块链 / 星链 / 改装蓝图&lt;Text style={{ color: '#94A3B8' }}&gt;&lt;br/&gt;&lt;/Text&gt;欢迎 Star · Fork · 共建&lt;/Text&gt;&#10;      &lt;/Box&gt;&#10;    &lt;/Animation&gt;&#10;    &lt;Animation animType=&quot;fadeIn&quot; startType=&quot;afterPrevious&quot; duration={700}&gt;&#10;      &lt;Text style={{ fontSize: 16, color: '#64748B', marginTop: 30 }}&gt;CMR Team · 2026 · 已开源&lt;/Text&gt;&#10;    &lt;/Animation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495425" y="1924050"/>
            <a:ext cx="92011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450" b="1">
                <a:solidFill>
                  <a:srgbClr val="E5EDF7"/>
                </a:solidFill>
                <a:latin typeface="Microsoft YaHei"/>
                <a:ea typeface="Microsoft YaHei"/>
              </a:rPr>
              <a:t>一台扫地机器人，</a:t>
            </a:r>
            <a:r>
              <a:rPr lang="zh-CN" sz="3450" b="1">
                <a:solidFill>
                  <a:srgbClr val="E5EDF7"/>
                </a:solidFill>
                <a:latin typeface="Microsoft YaHei"/>
                <a:ea typeface="Microsoft YaHei"/>
              </a:rPr>
              <a:t>一条通往宇宙采矿的技术闭环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467100" y="2924175"/>
            <a:ext cx="5257800" cy="1533525"/>
          </a:xfrm>
          <a:prstGeom prst="roundRect">
            <a:avLst>
              <a:gd name="adj" fmla="val 8696"/>
            </a:avLst>
          </a:prstGeom>
          <a:solidFill>
            <a:srgbClr val="0F1B33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48100" y="3190875"/>
            <a:ext cx="4495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B82F6"/>
                </a:solidFill>
                <a:latin typeface="Microsoft YaHei"/>
                <a:ea typeface="Microsoft YaHei"/>
              </a:rPr>
              <a:t>github.com/yydemo/cosmic-mining-robot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486275" y="3562350"/>
            <a:ext cx="321945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含仿真内核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结构图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区块链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星链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改装蓝图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欢迎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Star · Fork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共建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172075" y="4743450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CMR Team · 2026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已开源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4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id="14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2026-10-29T11:43:51Z</dcterms:created>
  <dcterms:modified xsi:type="dcterms:W3CDTF">2026-10-29T11:43:51Z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{"AIGC":{"Label":"1","ContentProducer":"00119111010856365494821B355","ProduceID":"01a185b695bc7d7c9f317a89057a3589","ReservedCode1":"","ContentPropagator":"00119111010856365494821B355","PropagateID":"01a185b695bc7d7c9f317a89057a3589","ReservedCode2":""}}</vt:lpwstr>
  </property>
</Properties>
</file>